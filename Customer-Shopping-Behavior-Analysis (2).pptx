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34014"/>
            <a:ext cx="2068592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01998"/>
            <a:ext cx="179641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50983"/>
            <a:ext cx="100089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 Our Data Foundation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334875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29270" y="43805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Purchases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88870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25278" y="33487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4160758" y="43805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Features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125278" y="488870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customer and purchase attributes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56884" y="33487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7492365" y="43805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Locations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56884" y="488870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diversity in customer base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788491" y="33487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10823972" y="43805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Types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788491" y="488870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Diverse inventory across four categories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8696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includes customer demographics, purchase details, and shopping behavior metrics. Only 37 missing values in Review Rating column, ensuring high data quality for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829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8068" y="3309818"/>
            <a:ext cx="1713428" cy="354092"/>
          </a:xfrm>
          <a:prstGeom prst="roundRect">
            <a:avLst>
              <a:gd name="adj" fmla="val 18090"/>
            </a:avLst>
          </a:prstGeom>
          <a:noFill/>
          <a:ln w="7620">
            <a:solidFill>
              <a:srgbClr val="007EB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59988" y="3374588"/>
            <a:ext cx="1469588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8068" y="3727966"/>
            <a:ext cx="8392120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Data Cleaning &amp; Engineering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38068" y="4593669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8068" y="4894778"/>
            <a:ext cx="6497003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5"/>
          <p:cNvSpPr/>
          <p:nvPr/>
        </p:nvSpPr>
        <p:spPr>
          <a:xfrm>
            <a:off x="738068" y="5035748"/>
            <a:ext cx="3180993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 &amp; Exploration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38068" y="5444609"/>
            <a:ext cx="649700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and performed initial structure analysis using pandas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95210" y="4593669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95210" y="4894778"/>
            <a:ext cx="6497003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9"/>
          <p:cNvSpPr/>
          <p:nvPr/>
        </p:nvSpPr>
        <p:spPr>
          <a:xfrm>
            <a:off x="7395210" y="5035748"/>
            <a:ext cx="2633424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 Handling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395210" y="5444609"/>
            <a:ext cx="649700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Review Rating nulls using median rating per product category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8068" y="6028253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8068" y="6329363"/>
            <a:ext cx="6497003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6" name="Text 13"/>
          <p:cNvSpPr/>
          <p:nvPr/>
        </p:nvSpPr>
        <p:spPr>
          <a:xfrm>
            <a:off x="738068" y="6470333"/>
            <a:ext cx="250209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738068" y="6879193"/>
            <a:ext cx="649700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age_group bins and purchase_frequency_days columns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395210" y="6028253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5210" y="6329363"/>
            <a:ext cx="6497003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0" name="Text 17"/>
          <p:cNvSpPr/>
          <p:nvPr/>
        </p:nvSpPr>
        <p:spPr>
          <a:xfrm>
            <a:off x="7395210" y="6470333"/>
            <a:ext cx="250209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Integration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7395210" y="6879193"/>
            <a:ext cx="649700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PostgreSQL and loaded cleaned data for SQL analysis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7863"/>
            <a:ext cx="765571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Analysis by Gender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3743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52649" y="67496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0334D"/>
          </a:solidFill>
          <a:ln/>
        </p:spPr>
      </p:sp>
      <p:sp>
        <p:nvSpPr>
          <p:cNvPr id="5" name="Text 2"/>
          <p:cNvSpPr/>
          <p:nvPr/>
        </p:nvSpPr>
        <p:spPr>
          <a:xfrm>
            <a:off x="4340423" y="6749653"/>
            <a:ext cx="519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4965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3ABFF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49653"/>
            <a:ext cx="7699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2629138"/>
            <a:ext cx="42051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Male Customers Drive Revenue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638943" y="360009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$157,890 in total revenue compared to $75,191 from female customers—representing 68% of total sales.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5255776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significant disparity suggests opportunities for targeted marketing campaigns to increase female customer engagement and spending.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7102"/>
            <a:ext cx="2171224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74949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695087"/>
            <a:ext cx="16268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44072"/>
            <a:ext cx="119830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Excellence &amp; Customer Preferences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793790" y="1979057"/>
            <a:ext cx="32437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Highest-Rated Products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793790" y="2804636"/>
            <a:ext cx="3511034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3790" y="2804636"/>
            <a:ext cx="2703433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9" name="Text 6"/>
          <p:cNvSpPr/>
          <p:nvPr/>
        </p:nvSpPr>
        <p:spPr>
          <a:xfrm>
            <a:off x="4474845" y="2804636"/>
            <a:ext cx="4775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77%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33714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93790" y="38796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 average rating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35893" y="2804636"/>
            <a:ext cx="3511034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5893" y="2804636"/>
            <a:ext cx="2703433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8916948" y="2804636"/>
            <a:ext cx="4775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77%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235893" y="33714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5235893" y="38796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 average rating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677995" y="2804636"/>
            <a:ext cx="3479840" cy="283488"/>
          </a:xfrm>
          <a:prstGeom prst="roundRect">
            <a:avLst>
              <a:gd name="adj" fmla="val 3360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77995" y="2804636"/>
            <a:ext cx="2644616" cy="283488"/>
          </a:xfrm>
          <a:prstGeom prst="roundRect">
            <a:avLst>
              <a:gd name="adj" fmla="val 33606"/>
            </a:avLst>
          </a:prstGeom>
          <a:solidFill>
            <a:srgbClr val="007EBD"/>
          </a:solidFill>
          <a:ln/>
        </p:spPr>
      </p:sp>
      <p:sp>
        <p:nvSpPr>
          <p:cNvPr id="19" name="Text 16"/>
          <p:cNvSpPr/>
          <p:nvPr/>
        </p:nvSpPr>
        <p:spPr>
          <a:xfrm>
            <a:off x="13327856" y="2804636"/>
            <a:ext cx="5087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76%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677995" y="33714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677995" y="38796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 average rating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793790" y="4582716"/>
            <a:ext cx="367938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Items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793790" y="5294948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50% of purchases use discounts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49.66% discount rate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49.07% discount rate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48.17% discount rate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793790" y="70017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products may benefit from strategic pricing adjustments to improve margins.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50551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 Insights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379232"/>
            <a:ext cx="2367558" cy="3299698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613666"/>
            <a:ext cx="189869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4493895"/>
            <a:ext cx="1898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4992886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customer base with strong repeat purchase behavior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874562" y="3379232"/>
            <a:ext cx="2367558" cy="3299698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08996" y="3613666"/>
            <a:ext cx="189869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 Buyers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108996" y="4493895"/>
            <a:ext cx="1898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108996" y="4992886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showing positive engagement and growth potential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1468933" y="3379232"/>
            <a:ext cx="2367558" cy="3299698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3368" y="3613666"/>
            <a:ext cx="189869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 Customers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1703368" y="4493895"/>
            <a:ext cx="1898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703368" y="4992886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 representing fresh acquisition opportunities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206" y="517446"/>
            <a:ext cx="6039564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Status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69206" y="3109555"/>
            <a:ext cx="3954304" cy="993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similar average spending patterns, subscribers represent only 27% of the customer base but show strong loyalty indicators.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8564" y="1447800"/>
            <a:ext cx="7710011" cy="41118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86688" y="5590103"/>
            <a:ext cx="175141" cy="175141"/>
          </a:xfrm>
          <a:prstGeom prst="roundRect">
            <a:avLst>
              <a:gd name="adj" fmla="val 10442"/>
            </a:avLst>
          </a:prstGeom>
          <a:solidFill>
            <a:srgbClr val="00334D"/>
          </a:solidFill>
          <a:ln/>
        </p:spPr>
      </p:sp>
      <p:sp>
        <p:nvSpPr>
          <p:cNvPr id="6" name="Text 3"/>
          <p:cNvSpPr/>
          <p:nvPr/>
        </p:nvSpPr>
        <p:spPr>
          <a:xfrm>
            <a:off x="8022788" y="5590103"/>
            <a:ext cx="1414582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589770" y="5590103"/>
            <a:ext cx="175141" cy="175141"/>
          </a:xfrm>
          <a:prstGeom prst="roundRect">
            <a:avLst>
              <a:gd name="adj" fmla="val 10442"/>
            </a:avLst>
          </a:prstGeom>
          <a:solidFill>
            <a:srgbClr val="03ABFF"/>
          </a:solidFill>
          <a:ln/>
        </p:spPr>
      </p:sp>
      <p:sp>
        <p:nvSpPr>
          <p:cNvPr id="8" name="Text 5"/>
          <p:cNvSpPr/>
          <p:nvPr/>
        </p:nvSpPr>
        <p:spPr>
          <a:xfrm>
            <a:off x="9825871" y="5590103"/>
            <a:ext cx="99357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269206" y="6069925"/>
            <a:ext cx="5978247" cy="1642110"/>
          </a:xfrm>
          <a:prstGeom prst="roundRect">
            <a:avLst>
              <a:gd name="adj" fmla="val 448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51967" y="6252686"/>
            <a:ext cx="230004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51967" y="6621423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 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51967" y="6951107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 avg spend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51967" y="7280791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 total revenue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382828" y="6069925"/>
            <a:ext cx="5978247" cy="1642110"/>
          </a:xfrm>
          <a:prstGeom prst="roundRect">
            <a:avLst>
              <a:gd name="adj" fmla="val 448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65588" y="6252686"/>
            <a:ext cx="230004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Non-Subscribers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65588" y="6621423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 customers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65588" y="6951107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 avg spend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565588" y="7280791"/>
            <a:ext cx="561272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 total revenue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1758"/>
            <a:ext cx="235493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07363"/>
            <a:ext cx="206752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BREAKDOWN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63968"/>
            <a:ext cx="96142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&amp; Age Group Performance</a:t>
            </a:r>
            <a:endParaRPr lang="en-US" sz="4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03540"/>
            <a:ext cx="8284131" cy="4639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8943" y="2962394"/>
            <a:ext cx="341364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 Contributions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638943" y="3561278"/>
            <a:ext cx="420516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$62,143 revenue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Middle-aged: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$59,197 revenue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$55,978 revenue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$55,763 revenue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5217050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dominates revenue at $100K. Young adults lead spending, suggesting targeted campaigns for this demographic.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752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 Highlights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0995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3.9K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131350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Customers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463950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customer base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0995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$59.76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131350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Purchase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407093" y="463950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spending across segments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0995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3.75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131350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Rating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20395" y="463950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customer satisfaction scores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98336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enables real-time filtering by subscription status, gender, category, and shipping type—providing stakeholders with actionable insights for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89948"/>
            <a:ext cx="1842730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61234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57933"/>
            <a:ext cx="12983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06917"/>
            <a:ext cx="1024830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Business Recommendations</a:t>
            </a:r>
            <a:endParaRPr lang="en-US" sz="4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1339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93790" y="5650825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the 73% non-subscriber base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091339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5278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4125278" y="565082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strengthen the 80% loyal customer segment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091339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456884" y="565082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promotional sales with margin control for high-discount products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091339"/>
            <a:ext cx="1767840" cy="17678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8491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10788491" y="565082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young adults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2026-02-11T04:17:55Z</dcterms:created>
  <dcterms:modified xsi:type="dcterms:W3CDTF">2026-02-11T04:17:55Z</dcterms:modified>
</cp:coreProperties>
</file>